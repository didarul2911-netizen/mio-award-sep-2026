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D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7E211-F1E7-4F52-8808-480393CEBA12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E61F31-F1D3-4C79-B887-3C068333F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9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E61F31-F1D3-4C79-B887-3C068333F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90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4AAC-374C-8E51-E525-E677DBF03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C3ED6-B487-6A76-6B05-E23C06BB20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1B0E5-B6F2-38D7-6A4E-BC29E374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C6368-0643-1CC5-4455-6EA8C3B7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B20A7-A662-E9BD-0C42-77857F9D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982A-CB73-04B8-40C8-89BE9CD9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65E6D-ABFC-E4ED-E083-896820CF5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5F343-1E2F-8B8C-3EEC-C3792D70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EB838-5A18-0B53-9C7A-EC43B2DE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8123F-A638-4A6C-4F1A-D6B55E67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B457-2C91-D62C-FF5D-634FE76D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C8F87-7A41-5839-E3EC-0BE31B64F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6D713-0E67-9245-72DE-0602C2F0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BDDC-5A7E-7E74-86FC-36C5A14E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F0436-C9AB-51B2-8E0A-DCF2C282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35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8F5F-5BE9-06D0-C023-573EC9A8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B21AD-A74D-8219-DF6C-725929A6D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7634A-3DDA-85B4-C15F-3005B83D7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A46B5-3039-4DC0-EE06-A833A0F4A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3E8F3-0EB3-BFDF-A5C6-A9D1AE68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DF80F-761C-8281-CF53-DD11C36FD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7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F41C-5397-AFDF-9427-E1E487E91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B4C29-1313-FF1F-5216-A1F6A37B4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32FEA-027D-5ECB-1B38-A698899DD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0E428-FDCB-0327-2374-E94210CB5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D3DA0-D612-A403-548A-B1F77443A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6BDD1-8352-2639-60AE-27B974C4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C05516-0180-4D47-3902-819424EE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D14396-9EE8-C563-AD34-939BE352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8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3F09-5EB2-E63F-537A-0DB5D9456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87903-778B-B923-F3C4-F3E60DBE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537B9-9E07-74E2-4B1B-6BC986A5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43F54-F092-69DC-0547-A4ADAC5D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35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3FD7A1-CDCD-5D09-1297-982EA793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6D6F8-2178-759F-B928-ACAC54C38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BE3BD-E44E-B9F0-8966-4527B55F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41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A6560-93C8-CE3C-60AB-D139B93B0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CBBDD-5C36-A425-5A4D-1E7F22C90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88436-74AA-3208-EDAD-53B944FE2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3CFEA-3DF2-1312-6466-E37198F3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58707-5D7A-422E-8060-14613160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BDBA0-B650-28EB-538F-C6977B8E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0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C5E1-430D-8175-DFD2-EAC3E02C5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4705D2-C555-58FD-C2DD-B71590792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6022F-7510-AAAF-4DDF-1E293BAEE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D6A55-678B-0D70-3BEC-63FA5C56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B70B6-46AC-5D3F-F5A9-14CBCD88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278B8-73CA-68DB-448B-A70EF4DD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38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9B26-C306-CA47-C959-CA89DAC4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24C02-3C99-0DA3-4EAE-6B6FB2205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9AA61-FA77-09B0-2A4F-651ADA46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23756-2735-9ED5-C735-978F9C27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C576A-F353-F74D-A563-EDD923F95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9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CB84B-A4B4-7F26-BF4E-F311ABE25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EBEFC-DD7F-D005-BB48-B6AED1D49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7559E-A6DB-890C-6633-C4039B13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2975C-44D4-863C-98A2-6916D096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47CC2-FEA6-23FA-5271-226F0E50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AE9206-CED6-78AC-8F7B-C0A2F142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DD665-3BFC-03DE-851F-9F300C12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EC1E5-BDB2-AA16-B8D4-0AE2DDB36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E56C4-E3D6-40A3-89F5-36F75FCFBD98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34F16-49A8-3C12-1546-B1ACFA2FE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86131-8503-1669-352F-6959F2A0C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E9306-CC74-46DE-BE3E-107E11FFC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3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8667-6684-377A-10C9-539364E7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9035411-7D44-2E54-A6B5-CC2C58F8F439}"/>
              </a:ext>
            </a:extLst>
          </p:cNvPr>
          <p:cNvSpPr/>
          <p:nvPr/>
        </p:nvSpPr>
        <p:spPr>
          <a:xfrm>
            <a:off x="0" y="0"/>
            <a:ext cx="12192000" cy="858578"/>
          </a:xfrm>
          <a:prstGeom prst="rect">
            <a:avLst/>
          </a:prstGeom>
          <a:solidFill>
            <a:srgbClr val="312B83"/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Rx &amp; Sales Award for MIO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41734E-3544-DCA4-BBAE-AE049859E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74123"/>
              </p:ext>
            </p:extLst>
          </p:nvPr>
        </p:nvGraphicFramePr>
        <p:xfrm>
          <a:off x="464148" y="1051059"/>
          <a:ext cx="10994425" cy="2374864"/>
        </p:xfrm>
        <a:graphic>
          <a:graphicData uri="http://schemas.openxmlformats.org/drawingml/2006/table">
            <a:tbl>
              <a:tblPr/>
              <a:tblGrid>
                <a:gridCol w="2045138">
                  <a:extLst>
                    <a:ext uri="{9D8B030D-6E8A-4147-A177-3AD203B41FA5}">
                      <a16:colId xmlns:a16="http://schemas.microsoft.com/office/drawing/2014/main" val="273889718"/>
                    </a:ext>
                  </a:extLst>
                </a:gridCol>
                <a:gridCol w="1605514">
                  <a:extLst>
                    <a:ext uri="{9D8B030D-6E8A-4147-A177-3AD203B41FA5}">
                      <a16:colId xmlns:a16="http://schemas.microsoft.com/office/drawing/2014/main" val="3741630773"/>
                    </a:ext>
                  </a:extLst>
                </a:gridCol>
                <a:gridCol w="2850128">
                  <a:extLst>
                    <a:ext uri="{9D8B030D-6E8A-4147-A177-3AD203B41FA5}">
                      <a16:colId xmlns:a16="http://schemas.microsoft.com/office/drawing/2014/main" val="394902480"/>
                    </a:ext>
                  </a:extLst>
                </a:gridCol>
                <a:gridCol w="4493645">
                  <a:extLst>
                    <a:ext uri="{9D8B030D-6E8A-4147-A177-3AD203B41FA5}">
                      <a16:colId xmlns:a16="http://schemas.microsoft.com/office/drawing/2014/main" val="2993835964"/>
                    </a:ext>
                  </a:extLst>
                </a:gridCol>
              </a:tblGrid>
              <a:tr h="7280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 Criteria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Growth Criteria (All SKU)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447757"/>
                  </a:ext>
                </a:extLst>
              </a:tr>
              <a:tr h="668168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Exium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  <a:p>
                      <a:pPr lvl="1" algn="l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Exium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MUPS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Sep’26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Seen Rx At least 200/Territory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3975" indent="0"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least 30 box growth of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Exium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MUPS 20 mg 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equivalent value growth in Total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Exium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Brand over Aug’26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140290"/>
                  </a:ext>
                </a:extLst>
              </a:tr>
              <a:tr h="908949">
                <a:tc>
                  <a:txBody>
                    <a:bodyPr/>
                    <a:lstStyle/>
                    <a:p>
                      <a:pPr lvl="1" algn="l" fontAlgn="ctr">
                        <a:buNone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Coralcal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-D</a:t>
                      </a:r>
                    </a:p>
                    <a:p>
                      <a:pPr marL="457200" marR="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Coralcal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-DX</a:t>
                      </a:r>
                    </a:p>
                    <a:p>
                      <a:pPr marL="457200" marR="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Coralcal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-Vita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Sep’26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Seen Rx At least 200/Territory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3975" indent="0"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least 30 box growth of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Coralcal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-DX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equivalent value growth in Total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Coralcal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Brand over Aug’26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7177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C995D33-D817-C7B0-DE24-0EEBDB418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45" y="3356221"/>
            <a:ext cx="1054104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Open Sans" panose="020B0606030504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Award: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34BA2AE-38BF-2186-9980-7AB6B8D9E2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437782"/>
                  </p:ext>
                </p:extLst>
              </p:nvPr>
            </p:nvGraphicFramePr>
            <p:xfrm>
              <a:off x="464145" y="3920271"/>
              <a:ext cx="10994428" cy="2116504"/>
            </p:xfrm>
            <a:graphic>
              <a:graphicData uri="http://schemas.openxmlformats.org/drawingml/2006/table">
                <a:tbl>
                  <a:tblPr/>
                  <a:tblGrid>
                    <a:gridCol w="1366683">
                      <a:extLst>
                        <a:ext uri="{9D8B030D-6E8A-4147-A177-3AD203B41FA5}">
                          <a16:colId xmlns:a16="http://schemas.microsoft.com/office/drawing/2014/main" val="2046072084"/>
                        </a:ext>
                      </a:extLst>
                    </a:gridCol>
                    <a:gridCol w="1580675">
                      <a:extLst>
                        <a:ext uri="{9D8B030D-6E8A-4147-A177-3AD203B41FA5}">
                          <a16:colId xmlns:a16="http://schemas.microsoft.com/office/drawing/2014/main" val="2926531594"/>
                        </a:ext>
                      </a:extLst>
                    </a:gridCol>
                    <a:gridCol w="2059668">
                      <a:extLst>
                        <a:ext uri="{9D8B030D-6E8A-4147-A177-3AD203B41FA5}">
                          <a16:colId xmlns:a16="http://schemas.microsoft.com/office/drawing/2014/main" val="2000058207"/>
                        </a:ext>
                      </a:extLst>
                    </a:gridCol>
                    <a:gridCol w="1724372">
                      <a:extLst>
                        <a:ext uri="{9D8B030D-6E8A-4147-A177-3AD203B41FA5}">
                          <a16:colId xmlns:a16="http://schemas.microsoft.com/office/drawing/2014/main" val="189783213"/>
                        </a:ext>
                      </a:extLst>
                    </a:gridCol>
                    <a:gridCol w="2131515">
                      <a:extLst>
                        <a:ext uri="{9D8B030D-6E8A-4147-A177-3AD203B41FA5}">
                          <a16:colId xmlns:a16="http://schemas.microsoft.com/office/drawing/2014/main" val="1922205065"/>
                        </a:ext>
                      </a:extLst>
                    </a:gridCol>
                    <a:gridCol w="2131515">
                      <a:extLst>
                        <a:ext uri="{9D8B030D-6E8A-4147-A177-3AD203B41FA5}">
                          <a16:colId xmlns:a16="http://schemas.microsoft.com/office/drawing/2014/main" val="2738223246"/>
                        </a:ext>
                      </a:extLst>
                    </a:gridCol>
                  </a:tblGrid>
                  <a:tr h="529126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Rx Criteria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Growth Criteria 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Regional Head</a:t>
                          </a:r>
                          <a:b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Recommendation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Zonal Head</a:t>
                          </a:r>
                          <a:b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Recommendation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Award (</a:t>
                          </a:r>
                          <a:r>
                            <a:rPr lang="en-US" sz="1600" b="1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Exium</a:t>
                          </a: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Award (</a:t>
                          </a:r>
                          <a:r>
                            <a:rPr lang="en-US" sz="1600" b="1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Coralcal</a:t>
                          </a: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2161409"/>
                      </a:ext>
                    </a:extLst>
                  </a:tr>
                  <a:tr h="529126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</m:oMath>
                          </a14:m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X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</m:oMath>
                          </a14:m>
                          <a:endParaRPr lang="en-US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</m:oMath>
                          </a14:m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Tk. 1000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Tk. 1000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843225"/>
                      </a:ext>
                    </a:extLst>
                  </a:tr>
                  <a:tr h="529126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</m:oMath>
                          </a14:m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</m:oMath>
                          </a14:m>
                          <a:endParaRPr lang="en-US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</m:oMath>
                          </a14:m>
                          <a:endParaRPr lang="en-US" sz="18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√</m:t>
                              </m:r>
                            </m:oMath>
                          </a14:m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 Tk. 3000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 Tk. 3000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33353"/>
                      </a:ext>
                    </a:extLst>
                  </a:tr>
                  <a:tr h="529126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u="none" strike="noStrike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N/A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N/A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N/A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 Award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 Award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31786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34BA2AE-38BF-2186-9980-7AB6B8D9E2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437782"/>
                  </p:ext>
                </p:extLst>
              </p:nvPr>
            </p:nvGraphicFramePr>
            <p:xfrm>
              <a:off x="464145" y="3920271"/>
              <a:ext cx="10994428" cy="2116504"/>
            </p:xfrm>
            <a:graphic>
              <a:graphicData uri="http://schemas.openxmlformats.org/drawingml/2006/table">
                <a:tbl>
                  <a:tblPr/>
                  <a:tblGrid>
                    <a:gridCol w="1366683">
                      <a:extLst>
                        <a:ext uri="{9D8B030D-6E8A-4147-A177-3AD203B41FA5}">
                          <a16:colId xmlns:a16="http://schemas.microsoft.com/office/drawing/2014/main" val="2046072084"/>
                        </a:ext>
                      </a:extLst>
                    </a:gridCol>
                    <a:gridCol w="1580675">
                      <a:extLst>
                        <a:ext uri="{9D8B030D-6E8A-4147-A177-3AD203B41FA5}">
                          <a16:colId xmlns:a16="http://schemas.microsoft.com/office/drawing/2014/main" val="2926531594"/>
                        </a:ext>
                      </a:extLst>
                    </a:gridCol>
                    <a:gridCol w="2059668">
                      <a:extLst>
                        <a:ext uri="{9D8B030D-6E8A-4147-A177-3AD203B41FA5}">
                          <a16:colId xmlns:a16="http://schemas.microsoft.com/office/drawing/2014/main" val="2000058207"/>
                        </a:ext>
                      </a:extLst>
                    </a:gridCol>
                    <a:gridCol w="1724372">
                      <a:extLst>
                        <a:ext uri="{9D8B030D-6E8A-4147-A177-3AD203B41FA5}">
                          <a16:colId xmlns:a16="http://schemas.microsoft.com/office/drawing/2014/main" val="189783213"/>
                        </a:ext>
                      </a:extLst>
                    </a:gridCol>
                    <a:gridCol w="2131515">
                      <a:extLst>
                        <a:ext uri="{9D8B030D-6E8A-4147-A177-3AD203B41FA5}">
                          <a16:colId xmlns:a16="http://schemas.microsoft.com/office/drawing/2014/main" val="1922205065"/>
                        </a:ext>
                      </a:extLst>
                    </a:gridCol>
                    <a:gridCol w="2131515">
                      <a:extLst>
                        <a:ext uri="{9D8B030D-6E8A-4147-A177-3AD203B41FA5}">
                          <a16:colId xmlns:a16="http://schemas.microsoft.com/office/drawing/2014/main" val="2738223246"/>
                        </a:ext>
                      </a:extLst>
                    </a:gridCol>
                  </a:tblGrid>
                  <a:tr h="529126"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Rx Criteria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Growth Criteria 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Regional Head</a:t>
                          </a:r>
                          <a:b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Recommendation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Zonal Head</a:t>
                          </a:r>
                          <a:b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Recommendation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Award (</a:t>
                          </a:r>
                          <a:r>
                            <a:rPr lang="en-US" sz="1600" b="1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Exium</a:t>
                          </a: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Award (</a:t>
                          </a:r>
                          <a:r>
                            <a:rPr lang="en-US" sz="1600" b="1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Coralcal</a:t>
                          </a:r>
                          <a:r>
                            <a:rPr lang="en-US" sz="16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2161409"/>
                      </a:ext>
                    </a:extLst>
                  </a:tr>
                  <a:tr h="5291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106897" r="-705804" b="-2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8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X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491" t="-106897" r="-290828" b="-2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0813" t="-106897" r="-247350" b="-2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Tk. 1000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Tk. 1000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6843225"/>
                      </a:ext>
                    </a:extLst>
                  </a:tr>
                  <a:tr h="5291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206897" r="-705804" b="-1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6538" t="-206897" r="-508077" b="-1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3491" t="-206897" r="-290828" b="-1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0813" t="-206897" r="-247350" b="-1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 Tk. 3000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  Tk. 3000</a:t>
                          </a:r>
                        </a:p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Equivalent Gift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3333353"/>
                      </a:ext>
                    </a:extLst>
                  </a:tr>
                  <a:tr h="5291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46" t="-306897" r="-705804" b="-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N/A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N/A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6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N/A 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 Award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>
                            <a:buNone/>
                          </a:pPr>
                          <a:r>
                            <a:rPr 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No Award</a:t>
                          </a:r>
                        </a:p>
                      </a:txBody>
                      <a:tcPr marL="6350" marR="6350" marT="6350" marB="0" anchor="ctr">
                        <a:lnL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4DC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31786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7825511-CE5F-DC75-5543-889A7FEAACBB}"/>
              </a:ext>
            </a:extLst>
          </p:cNvPr>
          <p:cNvSpPr txBox="1"/>
          <p:nvPr/>
        </p:nvSpPr>
        <p:spPr>
          <a:xfrm>
            <a:off x="464145" y="6175490"/>
            <a:ext cx="8079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*Total Territory Sales must be positive over Aug’26  </a:t>
            </a:r>
          </a:p>
        </p:txBody>
      </p:sp>
    </p:spTree>
    <p:extLst>
      <p:ext uri="{BB962C8B-B14F-4D97-AF65-F5344CB8AC3E}">
        <p14:creationId xmlns:p14="http://schemas.microsoft.com/office/powerpoint/2010/main" val="123397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155</Words>
  <Application>Microsoft Office PowerPoint</Application>
  <PresentationFormat>Widescreen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Samas Uddin</dc:creator>
  <cp:lastModifiedBy>Md. Didarul Islam</cp:lastModifiedBy>
  <cp:revision>10</cp:revision>
  <dcterms:created xsi:type="dcterms:W3CDTF">2026-09-02T04:47:35Z</dcterms:created>
  <dcterms:modified xsi:type="dcterms:W3CDTF">2026-09-09T09:47:35Z</dcterms:modified>
</cp:coreProperties>
</file>